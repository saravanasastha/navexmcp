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AI assistants</c:v>
                </c:pt>
              </c:strCache>
            </c:strRef>
          </c:tx>
          <c:spPr>
            <a:solidFill>
              <a:srgbClr val="0066FF"/>
            </a:solidFill>
            <a:ln w="38100" cap="flat">
              <a:solidFill>
                <a:srgbClr val="0066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66FF"/>
              </a:solidFill>
              <a:ln w="9525" cap="flat">
                <a:solidFill>
                  <a:srgbClr val="0066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38</c:v>
                </c:pt>
                <c:pt idx="2">
                  <c:v>64</c:v>
                </c:pt>
                <c:pt idx="3">
                  <c:v>86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MCP-style integrations</c:v>
                </c:pt>
              </c:strCache>
            </c:strRef>
          </c:tx>
          <c:spPr>
            <a:solidFill>
              <a:srgbClr val="00D084"/>
            </a:solidFill>
            <a:ln w="38100" cap="flat">
              <a:solidFill>
                <a:srgbClr val="00D0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084"/>
              </a:solidFill>
              <a:ln w="9525" cap="flat">
                <a:solidFill>
                  <a:srgbClr val="00D0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22</c:v>
                </c:pt>
                <c:pt idx="2">
                  <c:v>48</c:v>
                </c:pt>
                <c:pt idx="3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6FF"/>
              </a:solidFill>
              <a:effectLst/>
            </c:spPr>
          </c:dPt>
          <c:dPt>
            <c:idx val="1"/>
            <c:bubble3D val="0"/>
            <c:spPr>
              <a:solidFill>
                <a:srgbClr val="00C2FF"/>
              </a:solidFill>
              <a:effectLst/>
            </c:spPr>
          </c:dPt>
          <c:dPt>
            <c:idx val="2"/>
            <c:bubble3D val="0"/>
            <c:spPr>
              <a:solidFill>
                <a:srgbClr val="00D084"/>
              </a:solidFill>
              <a:effectLst/>
            </c:spPr>
          </c:dPt>
          <c:dPt>
            <c:idx val="3"/>
            <c:bubble3D val="0"/>
            <c:spPr>
              <a:solidFill>
                <a:srgbClr val="9FB3D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Cyber</c:v>
                </c:pt>
                <c:pt idx="1">
                  <c:v>Vendor</c:v>
                </c:pt>
                <c:pt idx="2">
                  <c:v>Ops</c:v>
                </c:pt>
                <c:pt idx="3">
                  <c:v>Compliance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27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Reports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9</c:v>
                </c:pt>
                <c:pt idx="2">
                  <c:v>14</c:v>
                </c:pt>
                <c:pt idx="3">
                  <c:v>11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A98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8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$</c:v>
                </c:pt>
              </c:strCache>
            </c:strRef>
          </c:tx>
          <c:spPr>
            <a:solidFill>
              <a:srgbClr val="00D08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0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54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MCP server (Azure)</c:v>
                  </c:pt>
                  <c:pt idx="1">
                    <c:v>Manual firefighting today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</c:v>
                </c:pt>
                <c:pt idx="1">
                  <c:v>12480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8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Dark cinematic hero. Logo lockup top-left, live-status badge top-right, oversized two-tone title, supporting line, three brand chips, attribution.
VISUALS: Gradient hero background, glassmorphism chips, accent status dot.
ANIMATION: (Entrance, on first click, cascading 0.35s apart) 1) logo lockup – Fade; 2) status badge – Fade; 3) kicker – Wipe up; 4) title – Fade/Zoom; 5) sub-line – Fade; 6) chips – Fade in sequence. Emphasis (optional): gentle Pulse on the green status dot (loop).
TRANSITION to next: Morph (fallback Push-left).
SPEAKER NOTES: "Today I want to show how we make our NAVEX automation reliable. We already use NAVEX as our GRC system; this is about removing the failures we keep hitting — and a prototype is already live." Set the tone: confident, solution-oriented.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Five numbered agenda cards, each with big index, icon tile, title, one-line descriptor.
ANIMATION: Title block Fade; then the five cards Fade/Float-in left-to-right, 0.3s apart (one idea at a time).
TRANSITION: Push-left.
SPEAKER NOTES: Walk the five movements in one breath each. "We'll go problem → solution → product → business case → path forward." Keep it to ~20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Light, two-column. Left narrative card (cap → 5-min flows → fail). Right stat panel with big numbers and a red result strip.
ANIMATION: Title Fade; left card Fade; the three red ✗ points cascade (Wipe up, 0.3s apart); right stat panel Zoom-in; big "≈40,000" counts in (Fade); red strip Fade last.
TRANSITION: Fade.
SPEAKER NOTES: "Every flow action counts against a fixed daily allowance — about 40,000 requests in 24 hours. Our 5-minute flows burn through it, so flows throttle and fail, and someone fixes them by hand." Make the pain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Light, 2x3 icon-card grid of six challenges.
ANIMATION: Title Fade; six cards Fade/Zoom sequentially across rows, 0.25s apart.
TRANSITION: Reveal/Push.
SPEAKER NOTES: "It's more than a rate limit — it's compounding operational drag: fragility, manual recovery, key-person risk, scattered credentials, and rising cost just to cope." Don't read every card; highlight 2-3.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Left three KPI insight cards; right chart card with line chart (illustrative adoption index).
ANIMATION: Title Fade; three left cards cascade (Float-in); chart card Fade then the chart animates (Fade — series build).
TRANSITION: Push-left.
SPEAKER NOTES: "Two currents make this timely: MCP is now an open, industry-backed standard, and teams want AI that can safely touch business systems — while GRC demands traceability. Chart is directional, not a forecast." Investor angle: momentum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Three-node metaphor (Requesters → MCP Server → NAVEX) with arrows; green takeaway strip.
ANIMATION: Title Fade; node 1 Fade; arrow 1 Wipe-right; node 2 (highlighted) Zoom; arrow 2 Wipe-right; node 3 Fade; takeaway strip Fade. This visually 'draws the flow'.
TRANSITION: Morph (fallback Push) — nodes can morph from previous.
SPEAKER NOTES: "Think of the MCP server as a translator and gatekeeper in front of NAVEX. It authenticates, validates, calls NAVEX, and logs everything — and crucially, it sets its own pace, so no Power Platform daily caps."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Light, 2x3 grid of product building blocks (Tools, Resources, Auth, Guardrails, Observability, Config-driven).
ANIMATION: Title Fade; six cards cascade Fade/Zoom.
TRANSITION: Reveal.
SPEAKER NOTES: "navex-mcp is small and config-driven — no hard-coded IDs; it discovers NAVEX schema live, so it survives configuration changes. It's already built and in testing."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Three stacked columns (Requesters | MCP Server highlighted | NAVEX services) with bidirectional arrows; caption.
ANIMATION: Title Fade; left column rows cascade; arrow 1 Wipe-right; center column rows cascade (highlight); arrow 2 Wipe-right; right column rows cascade; caption Fade.
TRANSITION: Morph (fallback Push) — pairs with slide 6.
SPEAKER NOTES: "A request comes from an assistant, analyst, scheduler or app; the server handles auth/session, exposes tools and resources, validates, caches and retries, and logs; then calls the relevant NAVEX service. Session cookie stays internal; least-privilege; every call logged."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Six capability rows with icon, name, example, and a HIGH/MEDIUM feasibility chip.
ANIMATION: Title Fade; rows cascade Fade/Wipe-up top-to-bottom; feasibility chips Zoom-pop after each row.
TRANSITION: Fade.
SPEAKER NOTES: "Graded honestly: reads and reports are HIGH feasibility — start there. Writes, workflow, and admin are MEDIUM — fully possible but behind validation and approval. AI natural-language access is a core strength."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Two horizontal process lanes — BEFORE (Power Automate, ends red 'fails') and AFTER (MCP server, ends green 'delivered').
ANIMATION: Title Fade; BEFORE lane steps animate left-to-right with arrows (Wipe-right), ending on the red fail card (emphasis: shake/Pulse). Then AFTER lane builds the same way ending green (emphasis: Pulse). The contrast is the punchline.
TRANSITION: Morph — the steps can morph between lanes for a 'transformation' feel.
SPEAKER NOTES: "Same daily-report job. Before: trigger every 5 minutes, HTTP actions, hits the cap, fails. After: a scheduled call that batches, caches, retries — delivered and logged."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Four-step journey cards (Ask → Resolve → Answer → Act) with numbered circles and connectors.
ANIMATION: Title Fade; each numbered circle Zoom-pop then its card Float-in; connectors Wipe-right between steps; one idea at a time.
TRANSITION: Push-left.
SPEAKER NOTES: "From hunting through screens to asking a question and getting a sourced answer in seconds — then acting, with every change validated and logged."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Simulated app window (chrome with traffic-light dots), KPI cards row, doughnut + bar mini-charts. Interactive/dashboard feel.
ANIMATION: Title Fade; window frame Zoom-in; KPI cards cascade Fade; doughnut Fade/Wheel; bar chart Fade (bars grow). Emphasis: KPI numbers count-up feel via staggered Fade.
TRANSITION: Zoom (simulate 'opening the app').
SPEAKER NOTES: "An illustrative operations view — open risks, overdue TPRA, reports delivered, resolution time, and breakdowns. This is what self-service visibility could look like."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Light, two-column. Left dark chat mock-up (user question → assistant answer with source). Right four guardrail capability rows.
ANIMATION: Title Fade; chat panel Fade; user bubble Float-in-right; assistant bubble Fade; input bar Fade; right rows cascade Fade/Zoom.
TRANSITION: Fade.
SPEAKER NOTES: "MCP is built for assistants. But because NAVEX is GRC, we start read-only, scope which tools the AI can call, require confirmation for changes, and design against prompt injection before any writes."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Light, 2x3 benefit grid.
ANIMATION: Title Fade; six benefit cards cascade Fade/Zoom; accent check icons Pulse once.
TRANSITION: Reveal.
SPEAKER NOTES: "Net gains: no daily caps, fewer moving parts, less firefighting, analyst self-service, audit-ready logs, predictable low cost."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Left four KPI cards; right bar chart comparing MCP infra vs manual firefighting (illustrative).
ANIMATION: Title Fade; KPI cards cascade Zoom-pop (numbers emphasis); chart card Fade then bars grow (Fade).
TRANSITION: Push-left.
SPEAKER NOTES: "Infrastructure is ~$33/month, ~$400/year. The real return is reclaimed time — roughly 200 hours/year of firefighting — and zero cap failures. The big bar is illustrative firefighting cost; confirm against your actuals." Finance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Four phase cards (Stabilise → Controlled writes → Self-service → Hybrid line) with top accent bars and connectors.
ANIMATION: Title Fade; phases Float-in left-to-right with connector Wipe-right between; one phase at a time.
TRANSITION: Push-left.
SPEAKER NOTES: "Phased and low-risk. Run alongside Power Automate. Migrate the failing, high-volume report flows first for immediate relief, then add controlled writes, then AI self-service, then decide the hybrid 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Horizontal 12-week timeline with five milestone nodes alternating above/below the line.
ANIMATION: Title Fade; timeline baseline Wipe-right (draws the line); nodes Zoom-pop in sequence; milestone cards Float-in (alternating up/down).
TRANSITION: Reveal.
SPEAKER NOTES: "Indicative 12 weeks: set up &amp; connect, migrate reports, controlled writes, AI pilot, then review &amp; scale. Dates are indicative pending kickoff."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Risk register: five rows of Risk + Severity chip + Mitigation, with column headers.
ANIMATION: Title Fade; header labels Fade; rows cascade Wipe-up; severity chips Zoom-pop.
TRANSITION: Fade.
SPEAKER NOTES: "Eyes open. The headline risk — AI changing records — is contained by read-only-first plus validation, approval and per-record audit logs. Credentials are vaulted. We're transparent about ownership and standard maturity."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Light. Three horizon columns (Now / Next / Later) with top accent bars and checklists.
ANIMATION: Title Fade; three columns Float-in; checklist items cascade Fade with check icons Zoom.
TRANSITION: Push-left.
SPEAKER NOTES: "Now: reliable foundation. Next: smarter operations with controlled writes and caching. Later: proactive GRC — AI-assisted discovery, event-driven updates, subscriptions."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Light, two-column. Left three takeaway cards; right dark 'the ask' panel with four bullet items and a green goal pill.
ANIMATION: Title Fade; left takeaways cascade Float-in; right dark panel Fade then ask items cascade; green goal pill Zoom-pop with Pulse.
TRANSITION: Fade.
SPEAKER NOTES: "Three things to remember: the problem is structural, the fix is proven, the cost is small. The ask: endorse a time-boxed pilot, name an owner, approve ~$60–75/month, and agree read-only-first guardrails."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Deep dark closing. Logo lockup, kicker, oversized 'Thank you', closing line, three contact chips.
ANIMATION: Logo Fade; kicker Wipe-up; 'Thank you' Zoom/Fade; closing line Fade; contact chips cascade Fade.
TRANSITION (from prev): Morph (fallback Fade).
SPEAKER NOTES: "Thank you — happy to take questions, and to get the green light for a phased pilot." Invite discussion; restate the single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3.png"/><Relationship Id="rId5" Type="http://schemas.openxmlformats.org/officeDocument/2006/relationships/image" Target="../media/image-18-3.png"/><Relationship Id="rId6" Type="http://schemas.openxmlformats.org/officeDocument/2006/relationships/image" Target="../media/image-18-3.png"/><Relationship Id="rId7" Type="http://schemas.openxmlformats.org/officeDocument/2006/relationships/image" Target="../media/image-18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4.png"/><Relationship Id="rId6" Type="http://schemas.openxmlformats.org/officeDocument/2006/relationships/image" Target="../media/image-19-4.png"/><Relationship Id="rId7" Type="http://schemas.openxmlformats.org/officeDocument/2006/relationships/image" Target="../media/image-19-7.png"/><Relationship Id="rId8" Type="http://schemas.openxmlformats.org/officeDocument/2006/relationships/image" Target="../media/image-19-4.png"/><Relationship Id="rId9" Type="http://schemas.openxmlformats.org/officeDocument/2006/relationships/image" Target="../media/image-19-4.png"/><Relationship Id="rId10" Type="http://schemas.openxmlformats.org/officeDocument/2006/relationships/image" Target="../media/image-19-4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4.png"/><Relationship Id="rId13" Type="http://schemas.openxmlformats.org/officeDocument/2006/relationships/image" Target="../media/image-19-4.png"/><Relationship Id="rId14" Type="http://schemas.openxmlformats.org/officeDocument/2006/relationships/image" Target="../media/image-19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5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5836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0704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500" b="1" spc="100" kern="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695944" y="603504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0A1F63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878824" y="749808"/>
            <a:ext cx="91440" cy="91440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7" name="Text 4"/>
          <p:cNvSpPr/>
          <p:nvPr/>
        </p:nvSpPr>
        <p:spPr>
          <a:xfrm>
            <a:off x="9043416" y="603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CE9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PROTOTYPE LIVE  ·  JUNE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6928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GOVERNANCE · RISK · COMPLIANCE AUTOMATION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2615184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 for </a:t>
            </a:r>
            <a:pPr indent="0" marL="0">
              <a:buNone/>
            </a:pPr>
            <a:r>
              <a:rPr lang="en-US" sz="58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 IRM</a:t>
            </a:r>
            <a:endParaRPr lang="en-US" sz="5800" dirty="0"/>
          </a:p>
        </p:txBody>
      </p:sp>
      <p:sp>
        <p:nvSpPr>
          <p:cNvPr id="10" name="Text 7"/>
          <p:cNvSpPr/>
          <p:nvPr/>
        </p:nvSpPr>
        <p:spPr>
          <a:xfrm>
            <a:off x="566928" y="39776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6F5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secure, AI-ready integration layer that replaces brittle, rate-limited automations with reliable, governed access to NAVEX.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66928" y="5029200"/>
            <a:ext cx="2136038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5175504"/>
            <a:ext cx="118872" cy="118872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13" name="Text 10"/>
          <p:cNvSpPr/>
          <p:nvPr/>
        </p:nvSpPr>
        <p:spPr>
          <a:xfrm>
            <a:off x="950976" y="5029200"/>
            <a:ext cx="17702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Reliable by design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904134" y="5029200"/>
            <a:ext cx="1967789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87014" y="5175504"/>
            <a:ext cx="118872" cy="118872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6" name="Text 13"/>
          <p:cNvSpPr/>
          <p:nvPr/>
        </p:nvSpPr>
        <p:spPr>
          <a:xfrm>
            <a:off x="3288182" y="5029200"/>
            <a:ext cx="160202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AI-native access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3091" y="5029200"/>
            <a:ext cx="2220163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55971" y="5175504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5457139" y="5029200"/>
            <a:ext cx="1854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Enterprise security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66928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the Cybersecurity / GRC Team   ·   For Leadership, Finance &amp; Core Team Review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movements — from the problem we have today to the path forward.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514600"/>
            <a:ext cx="2050085" cy="310896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" y="2752344"/>
            <a:ext cx="16843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9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786384" y="359359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3" name="Image 1" descr="/sessions/tender-determined-lovelace/mnt/outputs/assets/ic_bolt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73623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" y="4297680"/>
            <a:ext cx="1666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86384" y="4727448"/>
            <a:ext cx="16660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today's automation breaks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18181" y="2514600"/>
            <a:ext cx="2050085" cy="310896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037637" y="2752344"/>
            <a:ext cx="16843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9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3037637" y="359359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19" name="Image 2" descr="/sessions/tender-determined-lovelace/mnt/outputs/assets/ic_bulb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283" y="3736238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037637" y="4297680"/>
            <a:ext cx="1666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3037637" y="4727448"/>
            <a:ext cx="16660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 MCP server is &amp; does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69434" y="2514600"/>
            <a:ext cx="2050085" cy="310896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288890" y="2752344"/>
            <a:ext cx="16843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9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Shape 19"/>
          <p:cNvSpPr/>
          <p:nvPr/>
        </p:nvSpPr>
        <p:spPr>
          <a:xfrm>
            <a:off x="5288890" y="359359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5" name="Image 3" descr="/sessions/tender-determined-lovelace/mnt/outputs/assets/ic_arch_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3736238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88890" y="4297680"/>
            <a:ext cx="1666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288890" y="4727448"/>
            <a:ext cx="16660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features &amp; AI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320686" y="2514600"/>
            <a:ext cx="2050085" cy="310896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540142" y="2752344"/>
            <a:ext cx="16843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9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30" name="Shape 24"/>
          <p:cNvSpPr/>
          <p:nvPr/>
        </p:nvSpPr>
        <p:spPr>
          <a:xfrm>
            <a:off x="7540142" y="359359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31" name="Image 4" descr="/sessions/tender-determined-lovelace/mnt/outputs/assets/ic_money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2789" y="3736238"/>
            <a:ext cx="263347" cy="26334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540142" y="4297680"/>
            <a:ext cx="1666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Business Case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7540142" y="4727448"/>
            <a:ext cx="16660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ROI, cost &amp; benefits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571939" y="2514600"/>
            <a:ext cx="2050085" cy="310896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9791395" y="2752344"/>
            <a:ext cx="16843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9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3400" dirty="0"/>
          </a:p>
        </p:txBody>
      </p:sp>
      <p:sp>
        <p:nvSpPr>
          <p:cNvPr id="36" name="Shape 29"/>
          <p:cNvSpPr/>
          <p:nvPr/>
        </p:nvSpPr>
        <p:spPr>
          <a:xfrm>
            <a:off x="9791395" y="359359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37" name="Image 5" descr="/sessions/tender-determined-lovelace/mnt/outputs/assets/ic_rocket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042" y="3736238"/>
            <a:ext cx="263347" cy="26334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791395" y="4297680"/>
            <a:ext cx="1666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Path Forward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9791395" y="4727448"/>
            <a:ext cx="16660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Plan, timeline &amp; roadmap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automation is hitting a wall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run 20+ Power Automate flows against NAVEX. Several fire every 5 minutes — and they're now failing.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514600"/>
            <a:ext cx="557784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77824" y="278892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bolt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35" y="294583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Daily API request caps</a:t>
            </a:r>
            <a:endParaRPr lang="en-US" sz="1600" dirty="0"/>
          </a:p>
        </p:txBody>
      </p:sp>
      <p:pic>
        <p:nvPicPr>
          <p:cNvPr id="14" name="Image 2" descr="/sessions/tender-determined-lovelace/mnt/outputs/assets/ic_xmark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6484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566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flow action counts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one request against a fixed daily licence allowance (≈40,000 / 24h).</a:t>
            </a:r>
            <a:endParaRPr lang="en-US" sz="1150" dirty="0"/>
          </a:p>
        </p:txBody>
      </p:sp>
      <p:pic>
        <p:nvPicPr>
          <p:cNvPr id="16" name="Image 3" descr="/sessions/tender-determined-lovelace/mnt/outputs/assets/ic_xmark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48970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5-minute flows burn the budget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288 runs/day each — the allowance is exhausted fast.</a:t>
            </a:r>
            <a:endParaRPr lang="en-US" sz="1150" dirty="0"/>
          </a:p>
        </p:txBody>
      </p:sp>
      <p:pic>
        <p:nvPicPr>
          <p:cNvPr id="18" name="Image 4" descr="/sessions/tender-determined-lovelace/mnt/outputs/assets/ic_xmark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33095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52486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 throttle, then fail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someone has to notice, investigate and re-run them by hand.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419088" y="2514600"/>
            <a:ext cx="5202936" cy="3611880"/>
          </a:xfrm>
          <a:prstGeom prst="roundRect">
            <a:avLst>
              <a:gd name="adj" fmla="val 2532"/>
            </a:avLst>
          </a:prstGeom>
          <a:solidFill>
            <a:srgbClr val="F4F8FF"/>
          </a:solidFill>
          <a:ln w="12700">
            <a:solidFill>
              <a:srgbClr val="DCE7FB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6876288" y="2834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≈40,000</a:t>
            </a:r>
            <a:endParaRPr lang="en-US" sz="4800" dirty="0"/>
          </a:p>
        </p:txBody>
      </p:sp>
      <p:sp>
        <p:nvSpPr>
          <p:cNvPr id="22" name="Text 15"/>
          <p:cNvSpPr/>
          <p:nvPr/>
        </p:nvSpPr>
        <p:spPr>
          <a:xfrm>
            <a:off x="6876288" y="36758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request/day cap per user licence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876288" y="4160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20+</a:t>
            </a:r>
            <a:endParaRPr lang="en-US" sz="4800" dirty="0"/>
          </a:p>
        </p:txBody>
      </p:sp>
      <p:sp>
        <p:nvSpPr>
          <p:cNvPr id="24" name="Text 17"/>
          <p:cNvSpPr/>
          <p:nvPr/>
        </p:nvSpPr>
        <p:spPr>
          <a:xfrm>
            <a:off x="6876288" y="5001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 in production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9070848" y="4160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min</a:t>
            </a:r>
            <a:endParaRPr lang="en-US" sz="4800" dirty="0"/>
          </a:p>
        </p:txBody>
      </p:sp>
      <p:sp>
        <p:nvSpPr>
          <p:cNvPr id="26" name="Text 19"/>
          <p:cNvSpPr/>
          <p:nvPr/>
        </p:nvSpPr>
        <p:spPr>
          <a:xfrm>
            <a:off x="9070848" y="5001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fastest recurrence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876288" y="544068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/>
        </p:spPr>
      </p:sp>
      <p:sp>
        <p:nvSpPr>
          <p:cNvPr id="28" name="Text 21"/>
          <p:cNvSpPr/>
          <p:nvPr/>
        </p:nvSpPr>
        <p:spPr>
          <a:xfrm>
            <a:off x="7040880" y="5440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4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Result: missed reports &amp; manual firefighting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CHALLENGES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More than just a rate limit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low-code approach that got us started now creates compounding operational drag.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bolt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90011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 daily caps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22960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Throttling and suspension once the request allowance is exceeded.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25112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81144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F2545B"/>
          </a:solidFill>
          <a:ln/>
          <a:effectLst>
            <a:outerShdw sx="100000" sy="100000" kx="0" ky="0" algn="bl" rotWithShape="0" blurRad="127000" dist="38100" dir="5400000">
              <a:srgbClr val="F2545B">
                <a:alpha val="30000"/>
              </a:srgbClr>
            </a:outerShdw>
          </a:effectLst>
        </p:spPr>
      </p:sp>
      <p:pic>
        <p:nvPicPr>
          <p:cNvPr id="17" name="Image 2" descr="/sessions/tender-determined-lovelace/mnt/outputs/assets/ic_warn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055" y="290011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81144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Fragile flows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581144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20+ flows each re-implement similar logic; one change ripples everywhere.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83296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39328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22" name="Image 3" descr="/sessions/tender-determined-lovelace/mnt/outputs/assets/ic_clock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239" y="290011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9328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Manual recovery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339328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need a human to detect and re-run — often out of hours.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6928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7" name="Image 4" descr="/sessions/tender-determined-lovelace/mnt/outputs/assets/ic_users_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871" y="4783775"/>
            <a:ext cx="289682" cy="28968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Key-person risk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22960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of the flows sits with a few people; hard to scale.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325112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81144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32" name="Image 5" descr="/sessions/tender-determined-lovelace/mnt/outputs/assets/ic_lock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055" y="4783775"/>
            <a:ext cx="289682" cy="28968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81144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Scattered credentials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4581144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NAVEX secrets live across many flow connections.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83296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339328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37" name="Image 6" descr="/sessions/tender-determined-lovelace/mnt/outputs/assets/ic_money_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239" y="4783775"/>
            <a:ext cx="289682" cy="28968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339328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Rising cost to cope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8339328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Buying capacity add-on packs only delays the ceiling.</a:t>
            </a:r>
            <a:endParaRPr lang="en-US" sz="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shift to AI-ready integration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industry currents make a dedicated MCP layer timely, not premature.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542032"/>
            <a:ext cx="50292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7889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trendup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9363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6192" y="27066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standard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36192" y="30540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launched late 2024 and is backed across the industry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6928" y="3749040"/>
            <a:ext cx="50292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99592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17" name="Image 2" descr="/sessions/tender-determined-lovelace/mnt/outputs/assets/ic_brain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14332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3913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at work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536192" y="426110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want assistants that safely query line-of-business systems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66928" y="4956048"/>
            <a:ext cx="50292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520293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2" name="Image 3" descr="/sessions/tender-determined-lovelace/mnt/outputs/assets/ic_shield_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5350337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36192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GRC under pressure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536192" y="54681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&amp; risk demand traceable, automated evidence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916168" y="2542032"/>
            <a:ext cx="5705856" cy="3621024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190488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Adoption momentum — illustrative index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053328" y="3108960"/>
          <a:ext cx="5431536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8" name="Text 21"/>
          <p:cNvSpPr/>
          <p:nvPr/>
        </p:nvSpPr>
        <p:spPr>
          <a:xfrm>
            <a:off x="6053328" y="5852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Directional, for context only — not a market forecast.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secure gateway to NAVEX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MCP server acts as a professional translator and gatekeeper in front of NAVEX.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79476" y="2743200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13916" y="305409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users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111" y="3244291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" y="3950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Requesters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" y="44074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assistants, analysts, schedulers &amp; apps make a plain request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94276" y="2743200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F4F8FF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28716" y="305409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17" name="Image 2" descr="/sessions/tender-determined-lovelace/mnt/outputs/assets/ic_server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911" y="3244291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77156" y="3950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768596" y="44074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Authenticates, validates, calls NAVEX, logs every action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609076" y="2743200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43516" y="305409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22" name="Image 3" descr="/sessions/tender-determined-lovelace/mnt/outputs/assets/ic_db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711" y="3244291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91956" y="3950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 IRM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883396" y="44074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Risk, TPRA, reports, workflows &amp; assessments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89604" y="4069080"/>
            <a:ext cx="694944" cy="0"/>
          </a:xfrm>
          <a:prstGeom prst="line">
            <a:avLst/>
          </a:prstGeom>
          <a:noFill/>
          <a:ln w="31750">
            <a:solidFill>
              <a:srgbClr val="0066FF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804404" y="4069080"/>
            <a:ext cx="694944" cy="0"/>
          </a:xfrm>
          <a:prstGeom prst="line">
            <a:avLst/>
          </a:prstGeom>
          <a:noFill/>
          <a:ln w="31750">
            <a:solidFill>
              <a:srgbClr val="0066FF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66928" y="5760720"/>
            <a:ext cx="11055096" cy="457200"/>
          </a:xfrm>
          <a:prstGeom prst="roundRect">
            <a:avLst>
              <a:gd name="adj" fmla="val 20000"/>
            </a:avLst>
          </a:prstGeom>
          <a:solidFill>
            <a:srgbClr val="ECF8F2"/>
          </a:solidFill>
          <a:ln/>
        </p:spPr>
      </p:sp>
      <p:pic>
        <p:nvPicPr>
          <p:cNvPr id="28" name="Image 4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85216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33856" y="5760720"/>
            <a:ext cx="10323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Power Platform daily caps — the server controls its own batching, caching, retries and pacing.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OVERVIEW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navex-mcp delivers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small, config-driven service — already built and in testing on Azure.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plug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90011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22960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Named, safe actions: search, update, report, transition, assess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25112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81144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17" name="Image 2" descr="/sessions/tender-determined-lovelace/mnt/outputs/assets/ic_search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055" y="290011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81144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Resources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581144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Live, read-only views of components, fields, users &amp; workflows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83296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39328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22" name="Image 3" descr="/sessions/tender-determined-lovelace/mnt/outputs/assets/ic_key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239" y="290011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9328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 manager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339328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&amp; renews the NAVEX session; secrets stay hidden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6928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27" name="Image 4" descr="/sessions/tender-determined-lovelace/mnt/outputs/assets/ic_shield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871" y="4783775"/>
            <a:ext cx="289682" cy="28968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Guardrails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22960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Validation, approval gates and error sanitisation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325112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81144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32" name="Image 5" descr="/sessions/tender-determined-lovelace/mnt/outputs/assets/ic_gauge_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055" y="4783775"/>
            <a:ext cx="289682" cy="28968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81144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4581144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logs, audit trail and health checks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83296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339328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37" name="Image 6" descr="/sessions/tender-determined-lovelace/mnt/outputs/assets/ic_gears_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239" y="4783775"/>
            <a:ext cx="289682" cy="28968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339328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Config-driven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8339328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hard-coded component or field IDs — discovers schema live</a:t>
            </a:r>
            <a:endParaRPr lang="en-US" sz="11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 request flows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66928" y="2331720"/>
            <a:ext cx="2743200" cy="3611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REQUESTERS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86384" y="3044952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12" name="Image 1" descr="/sessions/tender-determined-lovelace/mnt/outputs/assets/ic_robot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2004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6736" y="304495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86384" y="3721608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15" name="Image 2" descr="/sessions/tender-determined-lovelace/mnt/outputs/assets/ic_users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87705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16736" y="37216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786384" y="4398264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18" name="Image 3" descr="/sessions/tender-determined-lovelace/mnt/outputs/assets/ic_clock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5371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16736" y="43982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Scheduler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786384" y="5074920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21" name="Image 4" descr="/sessions/tender-determined-lovelace/mnt/outputs/assets/ic_globe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23036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16736" y="5074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apps</a:t>
            </a:r>
            <a:endParaRPr lang="en-US" sz="1080" dirty="0"/>
          </a:p>
        </p:txBody>
      </p:sp>
      <p:sp>
        <p:nvSpPr>
          <p:cNvPr id="23" name="Shape 16"/>
          <p:cNvSpPr/>
          <p:nvPr/>
        </p:nvSpPr>
        <p:spPr>
          <a:xfrm>
            <a:off x="4224528" y="2331720"/>
            <a:ext cx="2743200" cy="3611880"/>
          </a:xfrm>
          <a:prstGeom prst="roundRect">
            <a:avLst>
              <a:gd name="adj" fmla="val 3333"/>
            </a:avLst>
          </a:prstGeom>
          <a:solidFill>
            <a:srgbClr val="F4F8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4407408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4443984" y="3044952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26" name="Image 5" descr="/sessions/tender-determined-lovelace/mnt/outputs/assets/ic_key_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20040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74336" y="304495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&amp; session</a:t>
            </a:r>
            <a:endParaRPr lang="en-US" sz="1080" dirty="0"/>
          </a:p>
        </p:txBody>
      </p:sp>
      <p:sp>
        <p:nvSpPr>
          <p:cNvPr id="28" name="Shape 20"/>
          <p:cNvSpPr/>
          <p:nvPr/>
        </p:nvSpPr>
        <p:spPr>
          <a:xfrm>
            <a:off x="4443984" y="3721608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29" name="Image 6" descr="/sessions/tender-determined-lovelace/mnt/outputs/assets/ic_plug_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3877056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74336" y="37216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resources</a:t>
            </a:r>
            <a:endParaRPr lang="en-US" sz="1080" dirty="0"/>
          </a:p>
        </p:txBody>
      </p:sp>
      <p:sp>
        <p:nvSpPr>
          <p:cNvPr id="31" name="Shape 22"/>
          <p:cNvSpPr/>
          <p:nvPr/>
        </p:nvSpPr>
        <p:spPr>
          <a:xfrm>
            <a:off x="4443984" y="4398264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32" name="Image 7" descr="/sessions/tender-determined-lovelace/mnt/outputs/assets/ic_shield_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553712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74336" y="43982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080" dirty="0"/>
          </a:p>
        </p:txBody>
      </p:sp>
      <p:sp>
        <p:nvSpPr>
          <p:cNvPr id="34" name="Shape 24"/>
          <p:cNvSpPr/>
          <p:nvPr/>
        </p:nvSpPr>
        <p:spPr>
          <a:xfrm>
            <a:off x="4443984" y="5074920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35" name="Image 8" descr="/sessions/tender-determined-lovelace/mnt/outputs/assets/ic_sync_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8576" y="5230368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974336" y="5074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· retry · audit</a:t>
            </a:r>
            <a:endParaRPr lang="en-US" sz="1080" dirty="0"/>
          </a:p>
        </p:txBody>
      </p:sp>
      <p:sp>
        <p:nvSpPr>
          <p:cNvPr id="37" name="Shape 26"/>
          <p:cNvSpPr/>
          <p:nvPr/>
        </p:nvSpPr>
        <p:spPr>
          <a:xfrm>
            <a:off x="7882128" y="2331720"/>
            <a:ext cx="2743200" cy="3611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8" name="Text 27"/>
          <p:cNvSpPr/>
          <p:nvPr/>
        </p:nvSpPr>
        <p:spPr>
          <a:xfrm>
            <a:off x="8065008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 IRM</a:t>
            </a:r>
            <a:endParaRPr lang="en-US" sz="1350" dirty="0"/>
          </a:p>
        </p:txBody>
      </p:sp>
      <p:sp>
        <p:nvSpPr>
          <p:cNvPr id="39" name="Shape 28"/>
          <p:cNvSpPr/>
          <p:nvPr/>
        </p:nvSpPr>
        <p:spPr>
          <a:xfrm>
            <a:off x="8101584" y="3044952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40" name="Image 9" descr="/sessions/tender-determined-lovelace/mnt/outputs/assets/ic_lock_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6176" y="3200400"/>
            <a:ext cx="256032" cy="25603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631936" y="304495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svc</a:t>
            </a:r>
            <a:endParaRPr lang="en-US" sz="1080" dirty="0"/>
          </a:p>
        </p:txBody>
      </p:sp>
      <p:sp>
        <p:nvSpPr>
          <p:cNvPr id="42" name="Shape 30"/>
          <p:cNvSpPr/>
          <p:nvPr/>
        </p:nvSpPr>
        <p:spPr>
          <a:xfrm>
            <a:off x="8101584" y="3721608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43" name="Image 10" descr="/sessions/tender-determined-lovelace/mnt/outputs/assets/ic_db_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6176" y="3877056"/>
            <a:ext cx="256032" cy="25603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631936" y="37216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svc</a:t>
            </a:r>
            <a:endParaRPr lang="en-US" sz="1080" dirty="0"/>
          </a:p>
        </p:txBody>
      </p:sp>
      <p:sp>
        <p:nvSpPr>
          <p:cNvPr id="45" name="Shape 32"/>
          <p:cNvSpPr/>
          <p:nvPr/>
        </p:nvSpPr>
        <p:spPr>
          <a:xfrm>
            <a:off x="8101584" y="4398264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46" name="Image 11" descr="/sessions/tender-determined-lovelace/mnt/outputs/assets/ic_fileexp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6176" y="4553712"/>
            <a:ext cx="256032" cy="25603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8631936" y="43982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svc</a:t>
            </a:r>
            <a:endParaRPr lang="en-US" sz="1080" dirty="0"/>
          </a:p>
        </p:txBody>
      </p:sp>
      <p:sp>
        <p:nvSpPr>
          <p:cNvPr id="48" name="Shape 34"/>
          <p:cNvSpPr/>
          <p:nvPr/>
        </p:nvSpPr>
        <p:spPr>
          <a:xfrm>
            <a:off x="8101584" y="5074920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49" name="Image 12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6176" y="5230368"/>
            <a:ext cx="256032" cy="256032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8631936" y="5074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svc</a:t>
            </a:r>
            <a:endParaRPr lang="en-US" sz="1080" dirty="0"/>
          </a:p>
        </p:txBody>
      </p:sp>
      <p:sp>
        <p:nvSpPr>
          <p:cNvPr id="51" name="Shape 36"/>
          <p:cNvSpPr/>
          <p:nvPr/>
        </p:nvSpPr>
        <p:spPr>
          <a:xfrm>
            <a:off x="3438144" y="4137660"/>
            <a:ext cx="658368" cy="0"/>
          </a:xfrm>
          <a:prstGeom prst="line">
            <a:avLst/>
          </a:prstGeom>
          <a:noFill/>
          <a:ln w="31750">
            <a:solidFill>
              <a:srgbClr val="0066FF"/>
            </a:solidFill>
            <a:prstDash val="solid"/>
            <a:headEnd type="triangle"/>
            <a:tailEnd type="triangle"/>
          </a:ln>
        </p:spPr>
      </p:sp>
      <p:sp>
        <p:nvSpPr>
          <p:cNvPr id="52" name="Shape 37"/>
          <p:cNvSpPr/>
          <p:nvPr/>
        </p:nvSpPr>
        <p:spPr>
          <a:xfrm>
            <a:off x="7095744" y="4137660"/>
            <a:ext cx="658368" cy="0"/>
          </a:xfrm>
          <a:prstGeom prst="line">
            <a:avLst/>
          </a:prstGeom>
          <a:noFill/>
          <a:ln w="31750">
            <a:solidFill>
              <a:srgbClr val="00D084"/>
            </a:solidFill>
            <a:prstDash val="solid"/>
            <a:headEnd type="triangle"/>
            <a:tailEnd type="triangle"/>
          </a:ln>
        </p:spPr>
      </p:sp>
      <p:sp>
        <p:nvSpPr>
          <p:cNvPr id="53" name="Text 38"/>
          <p:cNvSpPr/>
          <p:nvPr/>
        </p:nvSpPr>
        <p:spPr>
          <a:xfrm>
            <a:off x="566928" y="6053328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cookie captured internally  ·  least-privilege  ·  every call logged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74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FEATURES &amp; CAPABILITIES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can do with NAVEX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 graded honestly — start where risk is lowest.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8880"/>
            <a:ext cx="110550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551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search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2655783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43584" y="2468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&amp; search records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90288" y="24688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“Show all open high-risk TPRA records for my team.”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0387584" y="261518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0D084">
              <a:alpha val="16000"/>
            </a:srgbClr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387584" y="2615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6928" y="3108960"/>
            <a:ext cx="110550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4944" y="319125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19" name="Image 2" descr="/sessions/tender-determined-lovelace/mnt/outputs/assets/ic_fileexp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" y="3295863"/>
            <a:ext cx="193121" cy="1931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43584" y="31089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&amp; export reports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90288" y="31089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/ weekly / monthly NAVEX reports as CSV, PDF or XLSX.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387584" y="325526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0D084">
              <a:alpha val="16000"/>
            </a:srgbClr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387584" y="32552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" y="3749040"/>
            <a:ext cx="110550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4944" y="383133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26" name="Image 3" descr="/sessions/tender-determined-lovelace/mnt/outputs/assets/ic_sync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51" y="3935943"/>
            <a:ext cx="193121" cy="19312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43584" y="3749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Create &amp; update records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90288" y="37490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Bulk-update risk / TPRA records behind validation &amp; approval.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0387584" y="389534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6A609">
              <a:alpha val="16000"/>
            </a:srgbClr>
          </a:solidFill>
          <a:ln w="12700">
            <a:solidFill>
              <a:srgbClr val="F6A60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387584" y="38953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6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66928" y="4389120"/>
            <a:ext cx="110550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94944" y="447141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33" name="Image 4" descr="/sessions/tender-determined-lovelace/mnt/outputs/assets/ic_route_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51" y="4576023"/>
            <a:ext cx="193121" cy="19312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43584" y="4389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 &amp; assessments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90288" y="43891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 records, record votes, issue assessments.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10387584" y="45354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6A609">
              <a:alpha val="16000"/>
            </a:srgbClr>
          </a:solidFill>
          <a:ln w="12700">
            <a:solidFill>
              <a:srgbClr val="F6A60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387584" y="45354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6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566928" y="5029200"/>
            <a:ext cx="110550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94944" y="511149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40" name="Image 5" descr="/sessions/tender-determined-lovelace/mnt/outputs/assets/ic_usershield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551" y="5216103"/>
            <a:ext cx="193121" cy="19312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243584" y="5029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&amp; group admin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4590288" y="50292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up, create, update — restricted to admins.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10387584" y="51755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6A609">
              <a:alpha val="16000"/>
            </a:srgbClr>
          </a:solidFill>
          <a:ln w="12700">
            <a:solidFill>
              <a:srgbClr val="F6A609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0387584" y="51755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6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66928" y="5669280"/>
            <a:ext cx="110550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94944" y="57515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47" name="Image 6" descr="/sessions/tender-determined-lovelace/mnt/outputs/assets/ic_brain_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551" y="5856183"/>
            <a:ext cx="193121" cy="193121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243584" y="5669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natural-language access</a:t>
            </a:r>
            <a:endParaRPr lang="en-US" sz="1250" dirty="0"/>
          </a:p>
        </p:txBody>
      </p:sp>
      <p:sp>
        <p:nvSpPr>
          <p:cNvPr id="49" name="Text 40"/>
          <p:cNvSpPr/>
          <p:nvPr/>
        </p:nvSpPr>
        <p:spPr>
          <a:xfrm>
            <a:off x="4590288" y="56692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questions in plain English; scoped &amp; monitored.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10387584" y="581558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0D084">
              <a:alpha val="16000"/>
            </a:srgbClr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10387584" y="5815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74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 DEMONSTRATION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vs after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daily report job — two very different outcomes.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2569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— POWER AUTOMATE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28803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12" name="Image 1" descr="/sessions/tender-determined-lovelace/mnt/outputs/assets/ic_clock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815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3374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every 5 min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78024" y="3337560"/>
            <a:ext cx="1112520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627120" y="28803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16" name="Image 2" descr="/sessions/tender-determined-lovelace/mnt/outputs/assets/ic_code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0815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73424" y="3374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action ×N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538216" y="3337560"/>
            <a:ext cx="1112520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687312" y="28803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20" name="Image 3" descr="/sessions/tender-determined-lovelace/mnt/outputs/assets/ic_gauge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192" y="308152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33616" y="3374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vs daily cap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598408" y="3337560"/>
            <a:ext cx="1112520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9747504" y="28803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9050">
            <a:solidFill>
              <a:srgbClr val="F2545B"/>
            </a:solidFill>
            <a:prstDash val="solid"/>
          </a:ln>
        </p:spPr>
      </p:sp>
      <p:pic>
        <p:nvPicPr>
          <p:cNvPr id="24" name="Image 4" descr="/sessions/tender-determined-lovelace/mnt/outputs/assets/ic_xmark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84" y="308152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93808" y="3374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4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Throttled → fails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66928" y="45811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— MCP SERVER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66928" y="489204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28" name="Image 5" descr="/sessions/tender-determined-lovelace/mnt/outputs/assets/ic_calendar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09320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3232" y="53858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call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2478024" y="5349240"/>
            <a:ext cx="1112520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3627120" y="489204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32" name="Image 6" descr="/sessions/tender-determined-lovelace/mnt/outputs/assets/ic_sync_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0" y="5093208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773424" y="53858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+ cache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5538216" y="5349240"/>
            <a:ext cx="1112520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6687312" y="489204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36" name="Image 7" descr="/sessions/tender-determined-lovelace/mnt/outputs/assets/ic_shield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0192" y="5093208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833616" y="53858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on hiccup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8598408" y="5349240"/>
            <a:ext cx="1112520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9747504" y="489204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ECF8F2"/>
          </a:solidFill>
          <a:ln w="19050">
            <a:solidFill>
              <a:srgbClr val="00D084"/>
            </a:solidFill>
            <a:prstDash val="solid"/>
          </a:ln>
        </p:spPr>
      </p:sp>
      <p:pic>
        <p:nvPicPr>
          <p:cNvPr id="40" name="Image 8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0384" y="5093208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893808" y="53858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Delivered + logged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risk analyst's day, reimagined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hunting through screens to asking a question and getting an answer.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417320" y="2359152"/>
            <a:ext cx="768096" cy="768096"/>
          </a:xfrm>
          <a:prstGeom prst="ellipse">
            <a:avLst/>
          </a:prstGeom>
          <a:solidFill>
            <a:srgbClr val="0066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66FF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17320" y="2359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499616" y="3310128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4" name="Image 1" descr="/sessions/tender-determined-lovelace/mnt/outputs/assets/ic_search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27" y="3467039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86384" y="44348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“How many TPRA records are overdue this quarter, by vendor?”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090672" y="3931920"/>
            <a:ext cx="283464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429000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79392" y="2359152"/>
            <a:ext cx="768096" cy="768096"/>
          </a:xfrm>
          <a:prstGeom prst="ellipse">
            <a:avLst/>
          </a:prstGeom>
          <a:solidFill>
            <a:srgbClr val="00C2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C2FF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279392" y="2359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4361688" y="3310128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2" name="Image 2" descr="/sessions/tender-determined-lovelace/mnt/outputs/assets/ic_server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599" y="3467039"/>
            <a:ext cx="289682" cy="2896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118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Resolve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3648456" y="44348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 calls the MCP server, which queries NAVEX live.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952744" y="3931920"/>
            <a:ext cx="283464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291072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41464" y="2359152"/>
            <a:ext cx="768096" cy="768096"/>
          </a:xfrm>
          <a:prstGeom prst="ellipse">
            <a:avLst/>
          </a:prstGeom>
          <a:solidFill>
            <a:srgbClr val="00D08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D084">
                <a:alpha val="35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7141464" y="2359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7223760" y="3310128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30" name="Image 3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671" y="3467039"/>
            <a:ext cx="289682" cy="2896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73952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6510528" y="44348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sourced answer returns in seconds — no flow to build.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814816" y="3931920"/>
            <a:ext cx="283464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9153144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0003536" y="2359152"/>
            <a:ext cx="768096" cy="768096"/>
          </a:xfrm>
          <a:prstGeom prst="ellipse">
            <a:avLst/>
          </a:prstGeom>
          <a:solidFill>
            <a:srgbClr val="0066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66FF">
                <a:alpha val="3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10003536" y="2359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Shape 31"/>
          <p:cNvSpPr/>
          <p:nvPr/>
        </p:nvSpPr>
        <p:spPr>
          <a:xfrm>
            <a:off x="10085832" y="3310128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38" name="Image 4" descr="/sessions/tender-determined-lovelace/mnt/outputs/assets/ic_fileexp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2743" y="3467039"/>
            <a:ext cx="289682" cy="28968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336024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9372600" y="44348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the list, or update statuses — each change validated &amp; logged.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glance at what teams could see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66928" y="2331720"/>
            <a:ext cx="11055096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203200" dist="63500" dir="5400000">
              <a:srgbClr val="0B1B3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2496312"/>
            <a:ext cx="128016" cy="12801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2" name="Shape 9"/>
          <p:cNvSpPr/>
          <p:nvPr/>
        </p:nvSpPr>
        <p:spPr>
          <a:xfrm>
            <a:off x="969264" y="2496312"/>
            <a:ext cx="128016" cy="12801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0432" y="2496312"/>
            <a:ext cx="128016" cy="128016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14" name="Text 11"/>
          <p:cNvSpPr/>
          <p:nvPr/>
        </p:nvSpPr>
        <p:spPr>
          <a:xfrm>
            <a:off x="1664208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 × MCP  ·  Risk Operations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" y="2971800"/>
            <a:ext cx="2512314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081528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128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60120" y="3575304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risks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90722" y="2971800"/>
            <a:ext cx="2512314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5314" y="3081528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3655314" y="3575304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TPRA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85916" y="2971800"/>
            <a:ext cx="2512314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0508" y="3081528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350508" y="3575304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today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881110" y="2971800"/>
            <a:ext cx="2512314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45702" y="3081528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4.2d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9045702" y="3575304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resolve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41248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by category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49808" y="4251960"/>
          <a:ext cx="32004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5"/>
          <p:cNvSpPr/>
          <p:nvPr/>
        </p:nvSpPr>
        <p:spPr>
          <a:xfrm>
            <a:off x="4590288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Reports delivered / week</a:t>
            </a:r>
            <a:endParaRPr lang="en-US" sz="11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4498848" y="4251960"/>
          <a:ext cx="6848856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1" name="Text 26"/>
          <p:cNvSpPr/>
          <p:nvPr/>
        </p:nvSpPr>
        <p:spPr>
          <a:xfrm>
            <a:off x="566928" y="6227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mock-up of a possible operations view.</a:t>
            </a:r>
            <a:endParaRPr lang="en-US" sz="85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CAPABILITIES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data entry to dialogue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MCP standard is built for AI assistants — with guardrails for a GRC system.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514600"/>
            <a:ext cx="5212080" cy="3611880"/>
          </a:xfrm>
          <a:prstGeom prst="roundRect">
            <a:avLst>
              <a:gd name="adj" fmla="val 2532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77800" dist="50800" dir="5400000">
              <a:srgbClr val="0B1B3A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D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47088" y="31089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0066FF"/>
          </a:solidFill>
          <a:ln/>
        </p:spPr>
      </p:sp>
      <p:sp>
        <p:nvSpPr>
          <p:cNvPr id="13" name="Text 10"/>
          <p:cNvSpPr/>
          <p:nvPr/>
        </p:nvSpPr>
        <p:spPr>
          <a:xfrm>
            <a:off x="1984248" y="3154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TPRA records are overdue this quarter, by vendor?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1248" y="39776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B2A49"/>
          </a:solidFill>
          <a:ln w="12700">
            <a:solidFill>
              <a:srgbClr val="2C3F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8736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records are overdue across 9 vendors.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3: Acme (4), Northwind (3), Globex (2).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00D0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NAVEX TPRA component · logged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1248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1B2A49"/>
          </a:solidFill>
          <a:ln w="12700">
            <a:solidFill>
              <a:srgbClr val="2C3F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5486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about risk, TPRA, reports…</a:t>
            </a:r>
            <a:endParaRPr lang="en-US" sz="1000" dirty="0"/>
          </a:p>
        </p:txBody>
      </p:sp>
      <p:pic>
        <p:nvPicPr>
          <p:cNvPr id="18" name="Image 1" descr="/sessions/tender-determined-lovelace/mnt/outputs/assets/ic_magic_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5586984"/>
            <a:ext cx="256032" cy="2560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053328" y="2542032"/>
            <a:ext cx="55686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36208" y="27249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21" name="Image 2" descr="/sessions/tender-determined-lovelace/mnt/outputs/assets/ic_brain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84378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30568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Natural-language queries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830568" y="29535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English; the server maps it to NAVEX safely.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053328" y="3456432"/>
            <a:ext cx="55686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36208" y="36393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26" name="Image 3" descr="/sessions/tender-determined-lovelace/mnt/outputs/assets/ic_shield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75818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30568" y="3566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Read-only first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830568" y="3867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safe; add write actions behind validation &amp; approval.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053328" y="4370832"/>
            <a:ext cx="55686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236208" y="45537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31" name="Image 4" descr="/sessions/tender-determined-lovelace/mnt/outputs/assets/ic_usershield_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67258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30568" y="4480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Scoped &amp; monitored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6830568" y="4782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 which tools the AI can call; confirm changes.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53328" y="5285232"/>
            <a:ext cx="55686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36208" y="54681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36" name="Image 5" descr="/sessions/tender-determined-lovelace/mnt/outputs/assets/ic_lock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586984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30568" y="5394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Prompt-injection aware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6830568" y="56967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against manipulation before any write access is enabled.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BENEFITS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organisation gains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Reliability, reach and control — at a predictable, low cost.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90011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daily caps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22960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failures we have today simply go away for migrated work.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25112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81144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7" name="Image 2" descr="/sessions/tender-determined-lovelace/mnt/outputs/assets/ic_sync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055" y="290011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81144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Fewer moving parts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581144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maintained service replaces 20+ fragile flows.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83296" y="2487168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39328" y="274320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2" name="Image 3" descr="/sessions/tender-determined-lovelace/mnt/outputs/assets/ic_clock_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239" y="290011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9328" y="34381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Less firefighting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339328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retries and alerts mean fewer 2 a.m. failures.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6928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27" name="Image 4" descr="/sessions/tender-determined-lovelace/mnt/outputs/assets/ic_brain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871" y="4783775"/>
            <a:ext cx="289682" cy="28968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Analyst self-service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22960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Natural-language answers without building automations.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325112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81144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32" name="Image 5" descr="/sessions/tender-determined-lovelace/mnt/outputs/assets/ic_gauge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055" y="4783775"/>
            <a:ext cx="289682" cy="28968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81144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Audit-ready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4581144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Centralised logs and traceability — ideal for GRC.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83296" y="4370832"/>
            <a:ext cx="3538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339328" y="462686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37" name="Image 6" descr="/sessions/tender-determined-lovelace/mnt/outputs/assets/ic_money_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239" y="4783775"/>
            <a:ext cx="289682" cy="28968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339328" y="532180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Predictable cost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8339328" y="5687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 of dollars a month — scales gently with usage.</a:t>
            </a:r>
            <a:endParaRPr lang="en-US" sz="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ROI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 cost, high relief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cost is tens of dollars a month; the real return is reclaimed time and reliability.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542032"/>
            <a:ext cx="2395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" y="27614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≈$33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768096" y="3419856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infra / month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63824" y="2542032"/>
            <a:ext cx="2395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64992" y="27614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≈$400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364992" y="3419856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 / year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" y="4425696"/>
            <a:ext cx="2395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68096" y="464515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~200 hrs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768096" y="53035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firefighting reclaimed / yr (est.)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63824" y="4425696"/>
            <a:ext cx="2395728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364992" y="464515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3364992" y="53035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daily-cap failures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35040" y="2542032"/>
            <a:ext cx="5586984" cy="3621024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09360" y="2724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Estimated annual cost — illustrative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172200" y="3108960"/>
          <a:ext cx="5221224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 21"/>
          <p:cNvSpPr/>
          <p:nvPr/>
        </p:nvSpPr>
        <p:spPr>
          <a:xfrm>
            <a:off x="6172200" y="5779008"/>
            <a:ext cx="5312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Firefighting = ~4 hrs/wk at a nominal blended $60/hr. Illustrative; confirm against your actuals.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IMPLEMENTATION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phased, low-risk rollout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alongside Power Automate; migrate the failing, high-volume work first.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69748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2697480"/>
            <a:ext cx="2468880" cy="1097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3026664"/>
            <a:ext cx="585216" cy="585216"/>
          </a:xfrm>
          <a:prstGeom prst="roundRect">
            <a:avLst>
              <a:gd name="adj" fmla="val 10938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3" name="Image 1" descr="/sessions/tender-determined-lovelace/mnt/outputs/assets/ic_shield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8" y="3178820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27048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527048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Stabilise (read-only)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04672" y="39776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failing report flows at the MCP server. Immediate relief, lowest risk.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3090672" y="4206240"/>
            <a:ext cx="283464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429000" y="269748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429000" y="2697480"/>
            <a:ext cx="2468880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666744" y="3026664"/>
            <a:ext cx="585216" cy="585216"/>
          </a:xfrm>
          <a:prstGeom prst="roundRect">
            <a:avLst>
              <a:gd name="adj" fmla="val 10938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1" name="Image 2" descr="/sessions/tender-determined-lovelace/mnt/outputs/assets/ic_sync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900" y="3178820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8912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2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38912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Controlled writes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3666744" y="39776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risk / TPRA updates behind validation, approval &amp; audit logging.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5952744" y="4206240"/>
            <a:ext cx="283464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291072" y="269748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91072" y="2697480"/>
            <a:ext cx="2468880" cy="109728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28" name="Shape 23"/>
          <p:cNvSpPr/>
          <p:nvPr/>
        </p:nvSpPr>
        <p:spPr>
          <a:xfrm>
            <a:off x="6528816" y="3026664"/>
            <a:ext cx="585216" cy="585216"/>
          </a:xfrm>
          <a:prstGeom prst="roundRect">
            <a:avLst>
              <a:gd name="adj" fmla="val 10938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29" name="Image 3" descr="/sessions/tender-determined-lovelace/mnt/outputs/assets/ic_brai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972" y="3178820"/>
            <a:ext cx="280904" cy="2809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51192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251192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Analyst self-service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528816" y="39776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scoped, monitored AI-assistant access for natural-language queries.</a:t>
            </a:r>
            <a:endParaRPr lang="en-US" sz="1080" dirty="0"/>
          </a:p>
        </p:txBody>
      </p:sp>
      <p:sp>
        <p:nvSpPr>
          <p:cNvPr id="33" name="Shape 27"/>
          <p:cNvSpPr/>
          <p:nvPr/>
        </p:nvSpPr>
        <p:spPr>
          <a:xfrm>
            <a:off x="8814816" y="4206240"/>
            <a:ext cx="283464" cy="0"/>
          </a:xfrm>
          <a:prstGeom prst="line">
            <a:avLst/>
          </a:prstGeom>
          <a:noFill/>
          <a:ln w="25400">
            <a:solidFill>
              <a:srgbClr val="B7C2D4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9153144" y="269748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153144" y="2697480"/>
            <a:ext cx="2468880" cy="1097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6" name="Shape 30"/>
          <p:cNvSpPr/>
          <p:nvPr/>
        </p:nvSpPr>
        <p:spPr>
          <a:xfrm>
            <a:off x="9390888" y="3026664"/>
            <a:ext cx="585216" cy="585216"/>
          </a:xfrm>
          <a:prstGeom prst="roundRect">
            <a:avLst>
              <a:gd name="adj" fmla="val 10938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37" name="Image 4" descr="/sessions/tender-determined-lovelace/mnt/outputs/assets/ic_scale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3044" y="3178820"/>
            <a:ext cx="280904" cy="28090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113264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4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0113264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 the hybrid line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9390888" y="39776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in Power Automate only what belongs there; retire brittle flows.</a:t>
            </a:r>
            <a:endParaRPr lang="en-US" sz="108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TIMELINE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indicative 12-week path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41248" y="3931920"/>
            <a:ext cx="10506456" cy="0"/>
          </a:xfrm>
          <a:prstGeom prst="line">
            <a:avLst/>
          </a:prstGeom>
          <a:noFill/>
          <a:ln w="38100">
            <a:solidFill>
              <a:srgbClr val="D7E0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" y="3785616"/>
            <a:ext cx="292608" cy="292608"/>
          </a:xfrm>
          <a:prstGeom prst="ellipse">
            <a:avLst/>
          </a:prstGeom>
          <a:solidFill>
            <a:srgbClr val="0066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66FF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237744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377440"/>
            <a:ext cx="91440" cy="10972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 up &amp; connect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" y="303580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 the prototype; secure secrets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41248" y="3474720"/>
            <a:ext cx="0" cy="457200"/>
          </a:xfrm>
          <a:prstGeom prst="line">
            <a:avLst/>
          </a:prstGeom>
          <a:noFill/>
          <a:ln w="19050">
            <a:solidFill>
              <a:srgbClr val="D7E0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1558" y="3785616"/>
            <a:ext cx="292608" cy="292608"/>
          </a:xfrm>
          <a:prstGeom prst="ellipse">
            <a:avLst/>
          </a:prstGeom>
          <a:solidFill>
            <a:srgbClr val="00C2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C2FF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84882" y="43891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84882" y="4389120"/>
            <a:ext cx="91440" cy="109728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0" name="Text 17"/>
          <p:cNvSpPr/>
          <p:nvPr/>
        </p:nvSpPr>
        <p:spPr>
          <a:xfrm>
            <a:off x="2686050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Weeks 3–5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686050" y="4754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Migrate reports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686050" y="504748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failing report flows (read-only)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467862" y="3931920"/>
            <a:ext cx="0" cy="457200"/>
          </a:xfrm>
          <a:prstGeom prst="line">
            <a:avLst/>
          </a:prstGeom>
          <a:noFill/>
          <a:ln w="19050">
            <a:solidFill>
              <a:srgbClr val="D7E0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8172" y="3785616"/>
            <a:ext cx="292608" cy="292608"/>
          </a:xfrm>
          <a:prstGeom prst="ellipse">
            <a:avLst/>
          </a:prstGeom>
          <a:solidFill>
            <a:srgbClr val="00D08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D084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111496" y="237744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11496" y="2377440"/>
            <a:ext cx="91440" cy="109728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27" name="Text 24"/>
          <p:cNvSpPr/>
          <p:nvPr/>
        </p:nvSpPr>
        <p:spPr>
          <a:xfrm>
            <a:off x="5312664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Weeks 6–8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312664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Controlled writes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312664" y="303580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/ TPRA updates w/ approval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094476" y="3474720"/>
            <a:ext cx="0" cy="457200"/>
          </a:xfrm>
          <a:prstGeom prst="line">
            <a:avLst/>
          </a:prstGeom>
          <a:noFill/>
          <a:ln w="19050">
            <a:solidFill>
              <a:srgbClr val="D7E0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74786" y="3785616"/>
            <a:ext cx="292608" cy="292608"/>
          </a:xfrm>
          <a:prstGeom prst="ellipse">
            <a:avLst/>
          </a:prstGeom>
          <a:solidFill>
            <a:srgbClr val="0066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66FF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738110" y="43891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38110" y="4389120"/>
            <a:ext cx="91440" cy="10972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4" name="Text 31"/>
          <p:cNvSpPr/>
          <p:nvPr/>
        </p:nvSpPr>
        <p:spPr>
          <a:xfrm>
            <a:off x="7939278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Weeks 9–10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939278" y="4754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pilot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939278" y="504748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analyst self-service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721090" y="3931920"/>
            <a:ext cx="0" cy="457200"/>
          </a:xfrm>
          <a:prstGeom prst="line">
            <a:avLst/>
          </a:prstGeom>
          <a:noFill/>
          <a:ln w="19050">
            <a:solidFill>
              <a:srgbClr val="D7E0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201400" y="3785616"/>
            <a:ext cx="292608" cy="292608"/>
          </a:xfrm>
          <a:prstGeom prst="ellipse">
            <a:avLst/>
          </a:prstGeom>
          <a:solidFill>
            <a:srgbClr val="00C2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C2FF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9656064" y="237744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656064" y="2377440"/>
            <a:ext cx="91440" cy="109728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1" name="Text 38"/>
          <p:cNvSpPr/>
          <p:nvPr/>
        </p:nvSpPr>
        <p:spPr>
          <a:xfrm>
            <a:off x="9857232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Weeks 11–12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857232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&amp; scale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9857232" y="303580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Measure, decide hybrid line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11347704" y="3474720"/>
            <a:ext cx="0" cy="457200"/>
          </a:xfrm>
          <a:prstGeom prst="line">
            <a:avLst/>
          </a:prstGeom>
          <a:noFill/>
          <a:ln w="19050">
            <a:solidFill>
              <a:srgbClr val="D7E0EE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74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MITIGATION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Eyes open, risks managed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AI to a GRC system adds risk — here's how each is contained.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2231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321808" y="2231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" y="2542032"/>
            <a:ext cx="11055096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14" name="Image 1" descr="/sessions/tender-determined-lovelace/mnt/outputs/assets/ic_shield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523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254203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changing records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767328" y="27432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2545B">
              <a:alpha val="16000"/>
            </a:srgbClr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67328" y="27432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4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321808" y="2542032"/>
            <a:ext cx="6117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read-only; writes behind validation, approval &amp; per-record audit logs.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566928" y="3310128"/>
            <a:ext cx="11055096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20" name="Image 2" descr="/sessions/tender-determined-lovelace/mnt/outputs/assets/ic_shield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5204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33856" y="331012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Credential exposure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767328" y="351129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2545B">
              <a:alpha val="16000"/>
            </a:srgbClr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767328" y="35112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4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321808" y="3310128"/>
            <a:ext cx="6117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in protected storage / vault; never returned to callers.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566928" y="4078224"/>
            <a:ext cx="11055096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26" name="Image 3" descr="/sessions/tender-determined-lovelace/mnt/outputs/assets/ic_shield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28853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33856" y="4078224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767328" y="427939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6A609">
              <a:alpha val="16000"/>
            </a:srgbClr>
          </a:solidFill>
          <a:ln w="12700">
            <a:solidFill>
              <a:srgbClr val="F6A609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767328" y="42793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321808" y="4078224"/>
            <a:ext cx="6117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 callable tools; require confirmation; design against manipulation.</a:t>
            </a:r>
            <a:endParaRPr lang="en-US" sz="1080" dirty="0"/>
          </a:p>
        </p:txBody>
      </p:sp>
      <p:sp>
        <p:nvSpPr>
          <p:cNvPr id="31" name="Shape 25"/>
          <p:cNvSpPr/>
          <p:nvPr/>
        </p:nvSpPr>
        <p:spPr>
          <a:xfrm>
            <a:off x="566928" y="4846320"/>
            <a:ext cx="11055096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32" name="Image 4" descr="/sessions/tender-determined-lovelace/mnt/outputs/assets/ic_shield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505663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33856" y="484632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Engineering ownership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767328" y="50474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6A609">
              <a:alpha val="16000"/>
            </a:srgbClr>
          </a:solidFill>
          <a:ln w="12700">
            <a:solidFill>
              <a:srgbClr val="F6A60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767328" y="5047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321808" y="4846320"/>
            <a:ext cx="6117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a named owner; document; right-size effort from the prototype.</a:t>
            </a:r>
            <a:endParaRPr lang="en-US" sz="1080" dirty="0"/>
          </a:p>
        </p:txBody>
      </p:sp>
      <p:sp>
        <p:nvSpPr>
          <p:cNvPr id="37" name="Shape 30"/>
          <p:cNvSpPr/>
          <p:nvPr/>
        </p:nvSpPr>
        <p:spPr>
          <a:xfrm>
            <a:off x="566928" y="5614416"/>
            <a:ext cx="11055096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pic>
        <p:nvPicPr>
          <p:cNvPr id="38" name="Image 5" descr="/sessions/tender-determined-lovelace/mnt/outputs/assets/ic_shield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5824728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33856" y="5614416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 maturity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3767328" y="581558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D084">
              <a:alpha val="16000"/>
            </a:srgbClr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3767328" y="58155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321808" y="5614416"/>
            <a:ext cx="6117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standard, broad backing; NAVEX logic isolated so we can adapt.</a:t>
            </a:r>
            <a:endParaRPr lang="en-US" sz="108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this can go next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stabilisation — toward a smarter, self-serving GRC layer.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60604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2606040"/>
            <a:ext cx="3383280" cy="1097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Shape 9"/>
          <p:cNvSpPr/>
          <p:nvPr/>
        </p:nvSpPr>
        <p:spPr>
          <a:xfrm>
            <a:off x="841248" y="2953512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3" name="Image 1" descr="/sessions/tender-determined-lovelace/mnt/outputs/assets/ic_compass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3119933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18488" y="2990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618488" y="3282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Reliable foundation</a:t>
            </a:r>
            <a:endParaRPr lang="en-US" sz="1400" dirty="0"/>
          </a:p>
        </p:txBody>
      </p:sp>
      <p:pic>
        <p:nvPicPr>
          <p:cNvPr id="16" name="Image 2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99592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3941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Migrated report flows</a:t>
            </a:r>
            <a:endParaRPr lang="en-US" sz="1150" dirty="0"/>
          </a:p>
        </p:txBody>
      </p:sp>
      <p:pic>
        <p:nvPicPr>
          <p:cNvPr id="18" name="Image 3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5445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44897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NAVEX access</a:t>
            </a:r>
            <a:endParaRPr lang="en-US" sz="1150" dirty="0"/>
          </a:p>
        </p:txBody>
      </p:sp>
      <p:pic>
        <p:nvPicPr>
          <p:cNvPr id="20" name="Image 4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09320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70432" y="5038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logging &amp; alerts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402836" y="260604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402836" y="2606040"/>
            <a:ext cx="3383280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4" name="Shape 17"/>
          <p:cNvSpPr/>
          <p:nvPr/>
        </p:nvSpPr>
        <p:spPr>
          <a:xfrm>
            <a:off x="4677156" y="2953512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5" name="Image 5" descr="/sessions/tender-determined-lovelace/mnt/outputs/assets/ic_gears_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3577" y="3119933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54396" y="2990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54396" y="3282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Smarter operations</a:t>
            </a:r>
            <a:endParaRPr lang="en-US" sz="1400" dirty="0"/>
          </a:p>
        </p:txBody>
      </p:sp>
      <p:pic>
        <p:nvPicPr>
          <p:cNvPr id="28" name="Image 6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444" y="399592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06340" y="3941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write actions</a:t>
            </a:r>
            <a:endParaRPr lang="en-US" sz="1150" dirty="0"/>
          </a:p>
        </p:txBody>
      </p:sp>
      <p:pic>
        <p:nvPicPr>
          <p:cNvPr id="30" name="Image 7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444" y="4544568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06340" y="44897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caching</a:t>
            </a:r>
            <a:endParaRPr lang="en-US" sz="1150" dirty="0"/>
          </a:p>
        </p:txBody>
      </p:sp>
      <p:pic>
        <p:nvPicPr>
          <p:cNvPr id="32" name="Image 8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444" y="5093208"/>
            <a:ext cx="219456" cy="21945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006340" y="5038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AI self-service</a:t>
            </a:r>
            <a:endParaRPr lang="en-US" sz="1150" dirty="0"/>
          </a:p>
        </p:txBody>
      </p:sp>
      <p:sp>
        <p:nvSpPr>
          <p:cNvPr id="34" name="Shape 23"/>
          <p:cNvSpPr/>
          <p:nvPr/>
        </p:nvSpPr>
        <p:spPr>
          <a:xfrm>
            <a:off x="8238744" y="260604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8238744" y="2606040"/>
            <a:ext cx="3383280" cy="109728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36" name="Shape 25"/>
          <p:cNvSpPr/>
          <p:nvPr/>
        </p:nvSpPr>
        <p:spPr>
          <a:xfrm>
            <a:off x="8513064" y="2953512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37" name="Image 9" descr="/sessions/tender-determined-lovelace/mnt/outputs/assets/ic_rocket_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9485" y="3119933"/>
            <a:ext cx="307238" cy="30723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290304" y="2990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08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LATER</a:t>
            </a:r>
            <a:endParaRPr lang="en-US" sz="1300" dirty="0"/>
          </a:p>
        </p:txBody>
      </p:sp>
      <p:sp>
        <p:nvSpPr>
          <p:cNvPr id="39" name="Text 27"/>
          <p:cNvSpPr/>
          <p:nvPr/>
        </p:nvSpPr>
        <p:spPr>
          <a:xfrm>
            <a:off x="9290304" y="3282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Proactive GRC</a:t>
            </a:r>
            <a:endParaRPr lang="en-US" sz="1400" dirty="0"/>
          </a:p>
        </p:txBody>
      </p:sp>
      <p:pic>
        <p:nvPicPr>
          <p:cNvPr id="40" name="Image 10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1352" y="3995928"/>
            <a:ext cx="219456" cy="219456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842248" y="3941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record discovery</a:t>
            </a:r>
            <a:endParaRPr lang="en-US" sz="1150" dirty="0"/>
          </a:p>
        </p:txBody>
      </p:sp>
      <p:pic>
        <p:nvPicPr>
          <p:cNvPr id="42" name="Image 11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1352" y="4544568"/>
            <a:ext cx="219456" cy="219456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842248" y="44897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updates</a:t>
            </a:r>
            <a:endParaRPr lang="en-US" sz="1150" dirty="0"/>
          </a:p>
        </p:txBody>
      </p:sp>
      <p:pic>
        <p:nvPicPr>
          <p:cNvPr id="44" name="Image 12" descr="/sessions/tender-determined-lovelace/mnt/outputs/assets/ic_check_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1352" y="5093208"/>
            <a:ext cx="219456" cy="219456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8842248" y="5038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subscriptions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574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452628"/>
            <a:ext cx="173736" cy="173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26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250" b="1" spc="1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8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recommendation, in one view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8745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 the MCP server through a phased pilot — keep what works, fix what fails.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542032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81635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66FF"/>
          </a:solidFill>
          <a:ln/>
          <a:effectLst>
            <a:outerShdw sx="100000" sy="100000" kx="0" ky="0" algn="bl" rotWithShape="0" blurRad="127000" dist="38100" dir="5400000">
              <a:srgbClr val="0066FF">
                <a:alpha val="30000"/>
              </a:srgbClr>
            </a:outerShdw>
          </a:effectLst>
        </p:spPr>
      </p:sp>
      <p:pic>
        <p:nvPicPr>
          <p:cNvPr id="12" name="Image 1" descr="/sessions/tender-determined-lovelace/mnt/outputs/assets/ic_bolt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95899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27048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is structural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27048" y="30723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Automate's daily caps will keep breaking high-volume flows.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041648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D084"/>
          </a:solidFill>
          <a:ln/>
          <a:effectLst>
            <a:outerShdw sx="100000" sy="100000" kx="0" ky="0" algn="bl" rotWithShape="0" blurRad="127000" dist="38100" dir="5400000">
              <a:srgbClr val="00D084">
                <a:alpha val="30000"/>
              </a:srgbClr>
            </a:outerShdw>
          </a:effectLst>
        </p:spPr>
      </p:sp>
      <p:pic>
        <p:nvPicPr>
          <p:cNvPr id="17" name="Image 2" descr="/sessions/tender-determined-lovelace/mnt/outputs/assets/ic_bulb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18429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27048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fix is proven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27048" y="42976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MCP prototype already connects to NAVEX, reliably.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66928" y="4992624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266944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C2FF"/>
          </a:solidFill>
          <a:ln/>
          <a:effectLst>
            <a:outerShdw sx="100000" sy="100000" kx="0" ky="0" algn="bl" rotWithShape="0" blurRad="127000" dist="38100" dir="5400000">
              <a:srgbClr val="00C2FF">
                <a:alpha val="30000"/>
              </a:srgbClr>
            </a:outerShdw>
          </a:effectLst>
        </p:spPr>
      </p:sp>
      <p:pic>
        <p:nvPicPr>
          <p:cNvPr id="22" name="Image 3" descr="/sessions/tender-determined-lovelace/mnt/outputs/assets/ic_money_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5409590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27048" y="5175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cost is small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27048" y="552297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≈$20–55/month infra — with reclaimed time and audit-ready logs.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830568" y="2542032"/>
            <a:ext cx="4791456" cy="3602736"/>
          </a:xfrm>
          <a:prstGeom prst="roundRect">
            <a:avLst>
              <a:gd name="adj" fmla="val 253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3A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104888" y="2779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WE'RE ASKING</a:t>
            </a:r>
            <a:endParaRPr lang="en-US" sz="1100" dirty="0"/>
          </a:p>
        </p:txBody>
      </p:sp>
      <p:pic>
        <p:nvPicPr>
          <p:cNvPr id="27" name="Image 4" descr="/sessions/tender-determined-lovelace/mnt/outputs/assets/ic_users_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1729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25512" y="31181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Endorse a time-boxed pilot</a:t>
            </a:r>
            <a:endParaRPr lang="en-US" sz="1250" dirty="0"/>
          </a:p>
        </p:txBody>
      </p:sp>
      <p:pic>
        <p:nvPicPr>
          <p:cNvPr id="29" name="Image 5" descr="/sessions/tender-determined-lovelace/mnt/outputs/assets/ic_usershield_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31336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525512" y="3776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a server owner</a:t>
            </a:r>
            <a:endParaRPr lang="en-US" sz="1250" dirty="0"/>
          </a:p>
        </p:txBody>
      </p:sp>
      <p:pic>
        <p:nvPicPr>
          <p:cNvPr id="31" name="Image 6" descr="/sessions/tender-determined-lovelace/mnt/outputs/assets/ic_money_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4489704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525512" y="4434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~$60–75/mo Azure budget</a:t>
            </a:r>
            <a:endParaRPr lang="en-US" sz="1250" dirty="0"/>
          </a:p>
        </p:txBody>
      </p:sp>
      <p:pic>
        <p:nvPicPr>
          <p:cNvPr id="33" name="Image 7" descr="/sessions/tender-determined-lovelace/mnt/outputs/assets/ic_shield_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4888" y="5148072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525512" y="5093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read-only-first guardrails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7104888" y="5650992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/>
        </p:spPr>
      </p:sp>
      <p:sp>
        <p:nvSpPr>
          <p:cNvPr id="36" name="Text 26"/>
          <p:cNvSpPr/>
          <p:nvPr/>
        </p:nvSpPr>
        <p:spPr>
          <a:xfrm>
            <a:off x="7104888" y="5650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3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Goal: stop the failures within weeks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66FF"/>
          </a:solidFill>
          <a:ln/>
        </p:spPr>
      </p:sp>
      <p:pic>
        <p:nvPicPr>
          <p:cNvPr id="3" name="Image 0" descr="/sessions/tender-determined-lovelace/mnt/outputs/assets/ic_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5836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0704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NAVEX</a:t>
            </a:r>
            <a:pPr indent="0" marL="0">
              <a:buNone/>
            </a:pPr>
            <a:r>
              <a:rPr lang="en-US" sz="1500" b="1" spc="100" kern="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× MCP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928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 MAKE OUR AUTOMATION RELIABLE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66928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F5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Questions, discussion, and the green light for a phased pilot.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5120640"/>
            <a:ext cx="250545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3F66"/>
            </a:solidFill>
            <a:prstDash val="solid"/>
          </a:ln>
        </p:spPr>
      </p:sp>
      <p:pic>
        <p:nvPicPr>
          <p:cNvPr id="9" name="Image 1" descr="/sessions/tender-determined-lovelace/mnt/outputs/assets/ic_us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303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51206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 / GRC Team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73552" y="5120640"/>
            <a:ext cx="28163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3F66"/>
            </a:solidFill>
            <a:prstDash val="solid"/>
          </a:ln>
        </p:spPr>
      </p:sp>
      <p:pic>
        <p:nvPicPr>
          <p:cNvPr id="12" name="Image 2" descr="/sessions/tender-determined-lovelace/mnt/outputs/assets/ic_clou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5230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85616" y="51206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Prototype: navex-mcp (Azure)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291072" y="5120640"/>
            <a:ext cx="211683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3F66"/>
            </a:solidFill>
            <a:prstDash val="solid"/>
          </a:ln>
        </p:spPr>
      </p:sp>
      <p:pic>
        <p:nvPicPr>
          <p:cNvPr id="15" name="Image 3" descr="/sessions/tender-determined-lovelace/mnt/outputs/assets/ic_rocke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523036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3136" y="512064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pilot kickoff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66928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Internal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GRC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Server for NAVEX IRM</dc:title>
  <dc:subject>PptxGenJS Presentation</dc:subject>
  <dc:creator>Cybersecurity / GRC Team</dc:creator>
  <cp:lastModifiedBy>Cybersecurity / GRC Team</cp:lastModifiedBy>
  <cp:revision>1</cp:revision>
  <dcterms:created xsi:type="dcterms:W3CDTF">2026-06-18T11:26:46Z</dcterms:created>
  <dcterms:modified xsi:type="dcterms:W3CDTF">2026-06-18T11:26:46Z</dcterms:modified>
</cp:coreProperties>
</file>